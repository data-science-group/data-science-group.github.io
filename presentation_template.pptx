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76" r:id="rId5"/>
    <p:sldId id="277" r:id="rId6"/>
    <p:sldId id="278" r:id="rId7"/>
    <p:sldId id="279" r:id="rId8"/>
    <p:sldId id="280" r:id="rId9"/>
    <p:sldId id="281" r:id="rId10"/>
    <p:sldId id="282" r:id="rId11"/>
    <p:sldId id="28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3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indows User" initials="WU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D2C4"/>
    <a:srgbClr val="E6E4DC"/>
    <a:srgbClr val="A619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32" autoAdjust="0"/>
    <p:restoredTop sz="91803" autoAdjust="0"/>
  </p:normalViewPr>
  <p:slideViewPr>
    <p:cSldViewPr snapToGrid="0">
      <p:cViewPr varScale="1">
        <p:scale>
          <a:sx n="123" d="100"/>
          <a:sy n="123" d="100"/>
        </p:scale>
        <p:origin x="848" y="184"/>
      </p:cViewPr>
      <p:guideLst>
        <p:guide orient="horz" pos="193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in Beheshti" userId="0b28d023-1c36-403e-8fcb-eec720f45f2d" providerId="ADAL" clId="{4D51C2B3-DC0B-588D-9B83-280F7C6AFAD1}"/>
    <pc:docChg chg="custSel delSld modSld">
      <pc:chgData name="Amin Beheshti" userId="0b28d023-1c36-403e-8fcb-eec720f45f2d" providerId="ADAL" clId="{4D51C2B3-DC0B-588D-9B83-280F7C6AFAD1}" dt="2026-06-25T04:38:12.935" v="3" actId="478"/>
      <pc:docMkLst>
        <pc:docMk/>
      </pc:docMkLst>
      <pc:sldChg chg="del">
        <pc:chgData name="Amin Beheshti" userId="0b28d023-1c36-403e-8fcb-eec720f45f2d" providerId="ADAL" clId="{4D51C2B3-DC0B-588D-9B83-280F7C6AFAD1}" dt="2026-06-25T04:38:06.222" v="0" actId="2696"/>
        <pc:sldMkLst>
          <pc:docMk/>
          <pc:sldMk cId="817582533" sldId="259"/>
        </pc:sldMkLst>
      </pc:sldChg>
      <pc:sldChg chg="del">
        <pc:chgData name="Amin Beheshti" userId="0b28d023-1c36-403e-8fcb-eec720f45f2d" providerId="ADAL" clId="{4D51C2B3-DC0B-588D-9B83-280F7C6AFAD1}" dt="2026-06-25T04:38:06.222" v="1" actId="2696"/>
        <pc:sldMkLst>
          <pc:docMk/>
          <pc:sldMk cId="2826929996" sldId="274"/>
        </pc:sldMkLst>
      </pc:sldChg>
      <pc:sldChg chg="addSp delSp modSp mod">
        <pc:chgData name="Amin Beheshti" userId="0b28d023-1c36-403e-8fcb-eec720f45f2d" providerId="ADAL" clId="{4D51C2B3-DC0B-588D-9B83-280F7C6AFAD1}" dt="2026-06-25T04:38:12.935" v="3" actId="478"/>
        <pc:sldMkLst>
          <pc:docMk/>
          <pc:sldMk cId="3761637892" sldId="277"/>
        </pc:sldMkLst>
        <pc:spChg chg="add del mod">
          <ac:chgData name="Amin Beheshti" userId="0b28d023-1c36-403e-8fcb-eec720f45f2d" providerId="ADAL" clId="{4D51C2B3-DC0B-588D-9B83-280F7C6AFAD1}" dt="2026-06-25T04:38:12.935" v="3" actId="478"/>
          <ac:spMkLst>
            <pc:docMk/>
            <pc:sldMk cId="3761637892" sldId="277"/>
            <ac:spMk id="5" creationId="{C2B36DA3-3460-E48E-87AE-2941EFDF367C}"/>
          </ac:spMkLst>
        </pc:spChg>
        <pc:spChg chg="del">
          <ac:chgData name="Amin Beheshti" userId="0b28d023-1c36-403e-8fcb-eec720f45f2d" providerId="ADAL" clId="{4D51C2B3-DC0B-588D-9B83-280F7C6AFAD1}" dt="2026-06-25T04:38:10.151" v="2" actId="478"/>
          <ac:spMkLst>
            <pc:docMk/>
            <pc:sldMk cId="3761637892" sldId="277"/>
            <ac:spMk id="6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3EC2B2F-6DE7-C49A-F251-25A6DC4DD0C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3987C4-73D7-3270-E1D2-EADF1EA56FF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FD30FC-99B8-1441-8579-788098C9C979}" type="datetimeFigureOut">
              <a:rPr lang="en-US" smtClean="0"/>
              <a:t>6/25/26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4B76A5-C490-D52B-BB5A-16FF6CDAD5D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D401A7-5F16-077F-B9EE-7CA8203C42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1CD549-F187-0645-99C6-A6BBBA848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6643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062A73-2E64-49D6-ABD8-1FCFA8272204}" type="datetimeFigureOut">
              <a:rPr lang="en-AU" smtClean="0"/>
              <a:t>25/6/2026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80AC98-8E30-490D-A639-38DF0F70C27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54587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 noProof="0" dirty="0"/>
          </a:p>
        </p:txBody>
      </p:sp>
      <p:pic>
        <p:nvPicPr>
          <p:cNvPr id="4" name="Picture 3" descr="A red and white logo&#10;&#10;AI-generated content may be incorrect.">
            <a:extLst>
              <a:ext uri="{FF2B5EF4-FFF2-40B4-BE49-F238E27FC236}">
                <a16:creationId xmlns:a16="http://schemas.microsoft.com/office/drawing/2014/main" id="{C7F9CE8F-2CE0-9C59-0DC8-946A0B267C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5687" y="219141"/>
            <a:ext cx="2019600" cy="1229812"/>
          </a:xfrm>
          <a:prstGeom prst="rect">
            <a:avLst/>
          </a:prstGeom>
        </p:spPr>
      </p:pic>
      <p:sp>
        <p:nvSpPr>
          <p:cNvPr id="15" name="Title 14"/>
          <p:cNvSpPr>
            <a:spLocks noGrp="1"/>
          </p:cNvSpPr>
          <p:nvPr>
            <p:ph type="title" hasCustomPrompt="1"/>
          </p:nvPr>
        </p:nvSpPr>
        <p:spPr>
          <a:xfrm>
            <a:off x="4126493" y="2691792"/>
            <a:ext cx="8544000" cy="6480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4126569" y="3340608"/>
            <a:ext cx="8542867" cy="503238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192017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en-AU" dirty="0"/>
              <a:t>Content no bullets</a:t>
            </a:r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623392" y="1079753"/>
            <a:ext cx="8542867" cy="503238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017448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sz="quarter" idx="16"/>
          </p:nvPr>
        </p:nvSpPr>
        <p:spPr>
          <a:xfrm>
            <a:off x="594785" y="1993392"/>
            <a:ext cx="11002433" cy="413594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623392" y="1082456"/>
            <a:ext cx="8542867" cy="503238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98723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0" y="2011680"/>
            <a:ext cx="5348515" cy="4109041"/>
          </a:xfrm>
        </p:spPr>
        <p:txBody>
          <a:bodyPr numCol="1" spcCol="144000"/>
          <a:lstStyle>
            <a:lvl1pPr marL="0" indent="0">
              <a:buNone/>
              <a:defRPr baseline="0"/>
            </a:lvl1pPr>
          </a:lstStyle>
          <a:p>
            <a:pPr lvl="0"/>
            <a:r>
              <a:rPr lang="en-AU" dirty="0"/>
              <a:t>Two Column content no bullets</a:t>
            </a:r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623392" y="1091600"/>
            <a:ext cx="8542867" cy="503238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6" hasCustomPrompt="1"/>
          </p:nvPr>
        </p:nvSpPr>
        <p:spPr>
          <a:xfrm>
            <a:off x="6248400" y="2011680"/>
            <a:ext cx="5348515" cy="4109041"/>
          </a:xfrm>
        </p:spPr>
        <p:txBody>
          <a:bodyPr numCol="1" spcCol="144000"/>
          <a:lstStyle>
            <a:lvl1pPr marL="0" indent="0">
              <a:buNone/>
              <a:defRPr baseline="0"/>
            </a:lvl1pPr>
          </a:lstStyle>
          <a:p>
            <a:pPr lvl="0"/>
            <a:r>
              <a:rPr lang="en-AU" dirty="0"/>
              <a:t>Two Column content no bullets</a:t>
            </a:r>
          </a:p>
        </p:txBody>
      </p:sp>
    </p:spTree>
    <p:extLst>
      <p:ext uri="{BB962C8B-B14F-4D97-AF65-F5344CB8AC3E}">
        <p14:creationId xmlns:p14="http://schemas.microsoft.com/office/powerpoint/2010/main" val="2404540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lumn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623392" y="1091600"/>
            <a:ext cx="8542867" cy="503238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609600" y="1956816"/>
            <a:ext cx="5306483" cy="416390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6248400" y="1956816"/>
            <a:ext cx="5306483" cy="416390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47268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623392" y="1091600"/>
            <a:ext cx="8542867" cy="503238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808700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623392" y="1089617"/>
            <a:ext cx="8542867" cy="503238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734400" y="1911095"/>
            <a:ext cx="10752000" cy="4216103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92518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329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488672"/>
            <a:ext cx="8544000" cy="648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898184"/>
            <a:ext cx="10972800" cy="4227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E29D3D6-55F4-32B7-202F-C797ADC0B286}"/>
              </a:ext>
            </a:extLst>
          </p:cNvPr>
          <p:cNvCxnSpPr>
            <a:cxnSpLocks/>
          </p:cNvCxnSpPr>
          <p:nvPr userDrawn="1"/>
        </p:nvCxnSpPr>
        <p:spPr>
          <a:xfrm>
            <a:off x="734400" y="1645201"/>
            <a:ext cx="10730652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2310F94C-3FCC-34EF-0EF7-58C09092E5D9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" r="14"/>
          <a:stretch/>
        </p:blipFill>
        <p:spPr>
          <a:xfrm>
            <a:off x="10643617" y="5503759"/>
            <a:ext cx="938518" cy="938783"/>
          </a:xfrm>
          <a:prstGeom prst="rect">
            <a:avLst/>
          </a:prstGeom>
        </p:spPr>
      </p:pic>
      <p:pic>
        <p:nvPicPr>
          <p:cNvPr id="7" name="Picture 6" descr="A red and white logo&#10;&#10;AI-generated content may be incorrect.">
            <a:extLst>
              <a:ext uri="{FF2B5EF4-FFF2-40B4-BE49-F238E27FC236}">
                <a16:creationId xmlns:a16="http://schemas.microsoft.com/office/drawing/2014/main" id="{676A72BA-139C-47B6-09D9-FB17D6B386EF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5687" y="219141"/>
            <a:ext cx="2019600" cy="12298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CC06EE0-C082-5E2B-B110-38F07C3B205F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255" y="6325889"/>
            <a:ext cx="3717003" cy="12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762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50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55" r:id="rId8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800100" indent="-342900" algn="l" defTabSz="914400" rtl="0" eaLnBrk="1" latinLnBrk="0" hangingPunct="1">
        <a:spcBef>
          <a:spcPct val="20000"/>
        </a:spcBef>
        <a:buFont typeface="Georgia" panose="02040502050405020303" pitchFamily="18" charset="0"/>
        <a:buChar char="―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85750" algn="l" defTabSz="9144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Georgia" panose="02040502050405020303" pitchFamily="18" charset="0"/>
        <a:buChar char="―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-science-group.github.io/people/aminbeheshti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emf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oogle.com/search?q=hierarchy+and+mind+map+examples&amp;rlz=1C1SQJL_enAU889AU889&amp;sxsrf=ALeKk0304_ZNKdSRmSO_DvbFHG02nhHAmQ:1588580177118&amp;source=lnms&amp;tbm=isch&amp;sa=X&amp;ved=2ahUKEwiSw52p4pnpAhVP4zgGHTvbBsAQ_AUoAXoECAwQAw&amp;biw=1500&amp;bih=858&amp;dpr=2" TargetMode="Externa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cribbr.com/methodology/types-of-research/" TargetMode="Externa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7FE3939-D542-C8FA-003E-DE97969537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" r="5"/>
          <a:stretch/>
        </p:blipFill>
        <p:spPr>
          <a:xfrm>
            <a:off x="0" y="-352"/>
            <a:ext cx="12192000" cy="6858703"/>
          </a:xfrm>
          <a:prstGeom prst="rect">
            <a:avLst/>
          </a:prstGeom>
        </p:spPr>
      </p:pic>
      <p:sp>
        <p:nvSpPr>
          <p:cNvPr id="7" name="Title 2">
            <a:extLst>
              <a:ext uri="{FF2B5EF4-FFF2-40B4-BE49-F238E27FC236}">
                <a16:creationId xmlns:a16="http://schemas.microsoft.com/office/drawing/2014/main" id="{D426DDFB-6EF5-FCC7-A1ED-F7115916FDD2}"/>
              </a:ext>
            </a:extLst>
          </p:cNvPr>
          <p:cNvSpPr txBox="1">
            <a:spLocks/>
          </p:cNvSpPr>
          <p:nvPr/>
        </p:nvSpPr>
        <p:spPr>
          <a:xfrm>
            <a:off x="438679" y="1846368"/>
            <a:ext cx="10168437" cy="145954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5000" dirty="0">
                <a:solidFill>
                  <a:schemeClr val="bg1"/>
                </a:solidFill>
              </a:rPr>
              <a:t>HOW TO PRESENT A RESEARCH PAPER?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D29CE62-1A4C-0C32-30C3-B5B20174F02E}"/>
              </a:ext>
            </a:extLst>
          </p:cNvPr>
          <p:cNvSpPr txBox="1">
            <a:spLocks/>
          </p:cNvSpPr>
          <p:nvPr/>
        </p:nvSpPr>
        <p:spPr>
          <a:xfrm>
            <a:off x="551221" y="3749046"/>
            <a:ext cx="8542867" cy="50323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 cap="all" baseline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800100" indent="-342900" algn="l" defTabSz="914400" rtl="0" eaLnBrk="1" latinLnBrk="0" hangingPunct="1">
              <a:spcBef>
                <a:spcPct val="20000"/>
              </a:spcBef>
              <a:buFont typeface="Georgia" panose="02040502050405020303" pitchFamily="18" charset="0"/>
              <a:buChar char="―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0150" indent="-285750" algn="l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Georgia" panose="02040502050405020303" pitchFamily="18" charset="0"/>
              <a:buChar char="―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>
                <a:solidFill>
                  <a:schemeClr val="bg1"/>
                </a:solidFill>
              </a:rPr>
              <a:t>By: Prof. Amin Beheshti</a:t>
            </a:r>
          </a:p>
          <a:p>
            <a:r>
              <a:rPr lang="en-AU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https://data-science-group.github.io/people/aminbeheshti/</a:t>
            </a:r>
            <a:endParaRPr lang="en-AU" dirty="0">
              <a:solidFill>
                <a:schemeClr val="bg1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575106C-43DF-2CF4-9C37-EF161DCD0B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11" y="2336800"/>
            <a:ext cx="228600" cy="10922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BDE1F17-F9F6-35D2-051F-85CAC20FED2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" r="7"/>
          <a:stretch/>
        </p:blipFill>
        <p:spPr>
          <a:xfrm>
            <a:off x="9695687" y="219141"/>
            <a:ext cx="2019318" cy="1229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0084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A motivating Scenario to explain:</a:t>
            </a:r>
          </a:p>
          <a:p>
            <a:pPr marL="823913" indent="-285750">
              <a:buFont typeface="Arial" panose="020B0604020202020204" pitchFamily="34" charset="0"/>
              <a:buChar char="•"/>
            </a:pPr>
            <a:r>
              <a:rPr lang="en-GB" dirty="0"/>
              <a:t>The domain and context of the research</a:t>
            </a:r>
          </a:p>
          <a:p>
            <a:pPr marL="823913" indent="-285750">
              <a:buFont typeface="Arial" panose="020B0604020202020204" pitchFamily="34" charset="0"/>
              <a:buChar char="•"/>
            </a:pPr>
            <a:r>
              <a:rPr lang="en-GB" dirty="0"/>
              <a:t>The aim of your research</a:t>
            </a:r>
          </a:p>
          <a:p>
            <a:pPr marL="823913" indent="-285750">
              <a:buFont typeface="Arial" panose="020B0604020202020204" pitchFamily="34" charset="0"/>
              <a:buChar char="•"/>
            </a:pPr>
            <a:r>
              <a:rPr lang="en-GB" dirty="0"/>
              <a:t>What is challenging</a:t>
            </a:r>
          </a:p>
          <a:p>
            <a:pPr marL="309563" indent="0">
              <a:buNone/>
            </a:pPr>
            <a:endParaRPr lang="en-GB" dirty="0"/>
          </a:p>
          <a:p>
            <a:pPr marL="309563" indent="-309563">
              <a:buNone/>
            </a:pPr>
            <a:r>
              <a:rPr lang="en-GB" dirty="0"/>
              <a:t>For all Slides: </a:t>
            </a:r>
          </a:p>
          <a:p>
            <a:pPr marL="501650" indent="306388">
              <a:buFont typeface="Arial" panose="020B0604020202020204" pitchFamily="34" charset="0"/>
              <a:buChar char="•"/>
            </a:pPr>
            <a:r>
              <a:rPr lang="en-GB" dirty="0"/>
              <a:t>I do not want to see sentences and paragraphs! Instead, try to use images and animations.</a:t>
            </a:r>
          </a:p>
          <a:p>
            <a:pPr marL="808038" indent="-306388">
              <a:buFont typeface="Arial" panose="020B0604020202020204" pitchFamily="34" charset="0"/>
              <a:buChar char="•"/>
            </a:pPr>
            <a:r>
              <a:rPr lang="en-GB" dirty="0"/>
              <a:t>Use simple examples.</a:t>
            </a:r>
          </a:p>
          <a:p>
            <a:pPr marL="808038" indent="-306388">
              <a:buFont typeface="Arial" panose="020B0604020202020204" pitchFamily="34" charset="0"/>
              <a:buChar char="•"/>
            </a:pPr>
            <a:r>
              <a:rPr lang="en-GB" dirty="0"/>
              <a:t>Use visuals, story format, case studies, quotes, videos, etc. to make it very appealing to the audience.</a:t>
            </a:r>
          </a:p>
          <a:p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18DD40-AD9D-053F-DB4A-114905C24A41}"/>
              </a:ext>
            </a:extLst>
          </p:cNvPr>
          <p:cNvSpPr txBox="1"/>
          <p:nvPr/>
        </p:nvSpPr>
        <p:spPr>
          <a:xfrm>
            <a:off x="0" y="6524036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Times New Roman" panose="02020603050405020304" pitchFamily="18" charset="0"/>
              </a:rPr>
              <a:t>Copyright © Centre for Applied AI @MQ                                                                     						                            https://data-science-</a:t>
            </a:r>
            <a:r>
              <a:rPr lang="en-GB" sz="1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Times New Roman" panose="02020603050405020304" pitchFamily="18" charset="0"/>
              </a:rPr>
              <a:t>group.github.io</a:t>
            </a:r>
            <a:endParaRPr lang="en-AU" sz="1000" i="1" dirty="0">
              <a:solidFill>
                <a:schemeClr val="tx1">
                  <a:lumMod val="50000"/>
                  <a:lumOff val="50000"/>
                </a:schemeClr>
              </a:solidFill>
              <a:latin typeface="Roboto Light" panose="02000000000000000000" pitchFamily="2" charset="0"/>
              <a:ea typeface="Roboto Light" panose="02000000000000000000" pitchFamily="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1637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1EE68-92D8-6327-8643-70E1B7D5A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803" y="559011"/>
            <a:ext cx="8544000" cy="648000"/>
          </a:xfrm>
        </p:spPr>
        <p:txBody>
          <a:bodyPr/>
          <a:lstStyle/>
          <a:p>
            <a:r>
              <a:rPr lang="en-AU" dirty="0"/>
              <a:t>Research Problem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273A13C-208A-DC93-CB89-0E0A794BCF7D}"/>
              </a:ext>
            </a:extLst>
          </p:cNvPr>
          <p:cNvSpPr txBox="1">
            <a:spLocks/>
          </p:cNvSpPr>
          <p:nvPr/>
        </p:nvSpPr>
        <p:spPr>
          <a:xfrm>
            <a:off x="799861" y="1941342"/>
            <a:ext cx="10820400" cy="4024125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914400" rtl="0" eaLnBrk="1" latinLnBrk="0" hangingPunct="1">
              <a:spcBef>
                <a:spcPct val="20000"/>
              </a:spcBef>
              <a:buFont typeface="Georgia" panose="02040502050405020303" pitchFamily="18" charset="0"/>
              <a:buChar char="―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0150" indent="-285750" algn="l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Georgia" panose="02040502050405020303" pitchFamily="18" charset="0"/>
              <a:buChar char="―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A simple example to explain:</a:t>
            </a:r>
          </a:p>
          <a:p>
            <a:pPr marL="538163"/>
            <a:r>
              <a:rPr lang="en-GB" dirty="0"/>
              <a:t>The problem</a:t>
            </a:r>
          </a:p>
          <a:p>
            <a:pPr marL="538163"/>
            <a:r>
              <a:rPr lang="en-GB" dirty="0"/>
              <a:t>Why it is challenging, and cannot be solved by an engineer?</a:t>
            </a:r>
          </a:p>
          <a:p>
            <a:pPr marL="538163"/>
            <a:r>
              <a:rPr lang="en-GB" dirty="0"/>
              <a:t>Highlight the research </a:t>
            </a:r>
            <a:r>
              <a:rPr lang="en-AU" dirty="0"/>
              <a:t>Questions/Hypotheses.</a:t>
            </a:r>
            <a:endParaRPr lang="en-GB" dirty="0"/>
          </a:p>
          <a:p>
            <a:pPr marL="538163"/>
            <a:endParaRPr lang="en-GB" dirty="0"/>
          </a:p>
          <a:p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D4750C-9FCF-5FDD-C899-6962DF98EF54}"/>
              </a:ext>
            </a:extLst>
          </p:cNvPr>
          <p:cNvSpPr txBox="1"/>
          <p:nvPr/>
        </p:nvSpPr>
        <p:spPr>
          <a:xfrm>
            <a:off x="0" y="6524036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Times New Roman" panose="02020603050405020304" pitchFamily="18" charset="0"/>
              </a:rPr>
              <a:t>Copyright © Centre for Applied AI @MQ                                                                     						                            https://data-science-</a:t>
            </a:r>
            <a:r>
              <a:rPr lang="en-GB" sz="1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Times New Roman" panose="02020603050405020304" pitchFamily="18" charset="0"/>
              </a:rPr>
              <a:t>group.github.io</a:t>
            </a:r>
            <a:endParaRPr lang="en-AU" sz="1000" i="1" dirty="0">
              <a:solidFill>
                <a:schemeClr val="tx1">
                  <a:lumMod val="50000"/>
                  <a:lumOff val="50000"/>
                </a:schemeClr>
              </a:solidFill>
              <a:latin typeface="Roboto Light" panose="02000000000000000000" pitchFamily="2" charset="0"/>
              <a:ea typeface="Roboto Light" panose="02000000000000000000" pitchFamily="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35234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27375-3A0A-A547-7978-6C81C2AF7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Literature Review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1179DA7-63FA-67CB-56CD-BCA846FCEECF}"/>
              </a:ext>
            </a:extLst>
          </p:cNvPr>
          <p:cNvSpPr txBox="1">
            <a:spLocks/>
          </p:cNvSpPr>
          <p:nvPr/>
        </p:nvSpPr>
        <p:spPr>
          <a:xfrm>
            <a:off x="701387" y="2194560"/>
            <a:ext cx="10820400" cy="4024125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914400" rtl="0" eaLnBrk="1" latinLnBrk="0" hangingPunct="1">
              <a:spcBef>
                <a:spcPct val="20000"/>
              </a:spcBef>
              <a:buFont typeface="Georgia" panose="02040502050405020303" pitchFamily="18" charset="0"/>
              <a:buChar char="―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0150" indent="-285750" algn="l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Georgia" panose="02040502050405020303" pitchFamily="18" charset="0"/>
              <a:buChar char="―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/>
              <a:t>A diagram to present the categories of the related work, in the field.</a:t>
            </a:r>
          </a:p>
          <a:p>
            <a:pPr lvl="1"/>
            <a:r>
              <a:rPr lang="en-AU" dirty="0"/>
              <a:t>See some examples </a:t>
            </a:r>
            <a:r>
              <a:rPr lang="en-AU" dirty="0">
                <a:hlinkClick r:id="rId2"/>
              </a:rPr>
              <a:t>HERE</a:t>
            </a:r>
            <a:endParaRPr lang="en-AU" dirty="0"/>
          </a:p>
          <a:p>
            <a:endParaRPr lang="en-AU" dirty="0"/>
          </a:p>
          <a:p>
            <a:r>
              <a:rPr lang="en-AU" dirty="0"/>
              <a:t>Explain in which category or categories of related work this work fits.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78E100-6B4E-BCF8-46CD-483BCE75EC2D}"/>
              </a:ext>
            </a:extLst>
          </p:cNvPr>
          <p:cNvSpPr txBox="1"/>
          <p:nvPr/>
        </p:nvSpPr>
        <p:spPr>
          <a:xfrm>
            <a:off x="0" y="6524036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Times New Roman" panose="02020603050405020304" pitchFamily="18" charset="0"/>
              </a:rPr>
              <a:t>Copyright © Centre for Applied AI @MQ                                                                     						                            https://data-science-</a:t>
            </a:r>
            <a:r>
              <a:rPr lang="en-GB" sz="1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Times New Roman" panose="02020603050405020304" pitchFamily="18" charset="0"/>
              </a:rPr>
              <a:t>group.github.io</a:t>
            </a:r>
            <a:endParaRPr lang="en-AU" sz="1000" i="1" dirty="0">
              <a:solidFill>
                <a:schemeClr val="tx1">
                  <a:lumMod val="50000"/>
                  <a:lumOff val="50000"/>
                </a:schemeClr>
              </a:solidFill>
              <a:latin typeface="Roboto Light" panose="02000000000000000000" pitchFamily="2" charset="0"/>
              <a:ea typeface="Roboto Light" panose="02000000000000000000" pitchFamily="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3913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A3BBF-E788-3FB0-88F4-361DA250A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Contributions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54790B1-4344-40DC-408D-18508DC46BC6}"/>
              </a:ext>
            </a:extLst>
          </p:cNvPr>
          <p:cNvSpPr txBox="1">
            <a:spLocks/>
          </p:cNvSpPr>
          <p:nvPr/>
        </p:nvSpPr>
        <p:spPr>
          <a:xfrm>
            <a:off x="701387" y="2194560"/>
            <a:ext cx="10820400" cy="4024125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914400" rtl="0" eaLnBrk="1" latinLnBrk="0" hangingPunct="1">
              <a:spcBef>
                <a:spcPct val="20000"/>
              </a:spcBef>
              <a:buFont typeface="Georgia" panose="02040502050405020303" pitchFamily="18" charset="0"/>
              <a:buChar char="―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0150" indent="-285750" algn="l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Georgia" panose="02040502050405020303" pitchFamily="18" charset="0"/>
              <a:buChar char="―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  <a:p>
            <a:r>
              <a:rPr lang="en-GB" dirty="0"/>
              <a:t>Illustrate how the work contributes to existing research in the field.</a:t>
            </a:r>
          </a:p>
          <a:p>
            <a:endParaRPr lang="en-GB" dirty="0"/>
          </a:p>
          <a:p>
            <a:r>
              <a:rPr lang="en-AU" dirty="0"/>
              <a:t>What is the added value of this approach compared with the state of the art?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4894F2-66EE-6174-6ABB-46AF84681D68}"/>
              </a:ext>
            </a:extLst>
          </p:cNvPr>
          <p:cNvSpPr txBox="1"/>
          <p:nvPr/>
        </p:nvSpPr>
        <p:spPr>
          <a:xfrm>
            <a:off x="0" y="6524036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Times New Roman" panose="02020603050405020304" pitchFamily="18" charset="0"/>
              </a:rPr>
              <a:t>Copyright © Centre for Applied AI @MQ                                                                     						                            https://data-science-</a:t>
            </a:r>
            <a:r>
              <a:rPr lang="en-GB" sz="1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Times New Roman" panose="02020603050405020304" pitchFamily="18" charset="0"/>
              </a:rPr>
              <a:t>group.github.io</a:t>
            </a:r>
            <a:endParaRPr lang="en-AU" sz="1000" i="1" dirty="0">
              <a:solidFill>
                <a:schemeClr val="tx1">
                  <a:lumMod val="50000"/>
                  <a:lumOff val="50000"/>
                </a:schemeClr>
              </a:solidFill>
              <a:latin typeface="Roboto Light" panose="02000000000000000000" pitchFamily="2" charset="0"/>
              <a:ea typeface="Roboto Light" panose="02000000000000000000" pitchFamily="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48237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C7D0A-AD76-DF51-6D72-6A0ADB589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Methodology</a:t>
            </a: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662CD7C-768D-D6A4-86F9-1979810BBCB1}"/>
              </a:ext>
            </a:extLst>
          </p:cNvPr>
          <p:cNvSpPr txBox="1">
            <a:spLocks/>
          </p:cNvSpPr>
          <p:nvPr/>
        </p:nvSpPr>
        <p:spPr>
          <a:xfrm>
            <a:off x="701387" y="2194560"/>
            <a:ext cx="10820400" cy="4024125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914400" rtl="0" eaLnBrk="1" latinLnBrk="0" hangingPunct="1">
              <a:spcBef>
                <a:spcPct val="20000"/>
              </a:spcBef>
              <a:buFont typeface="Georgia" panose="02040502050405020303" pitchFamily="18" charset="0"/>
              <a:buChar char="―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0150" indent="-285750" algn="l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Georgia" panose="02040502050405020303" pitchFamily="18" charset="0"/>
              <a:buChar char="―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What is the type of research? Check this (</a:t>
            </a:r>
            <a:r>
              <a:rPr lang="en-GB" dirty="0">
                <a:hlinkClick r:id="rId2"/>
              </a:rPr>
              <a:t>LINK</a:t>
            </a:r>
            <a:r>
              <a:rPr lang="en-GB" dirty="0"/>
              <a:t>)</a:t>
            </a:r>
          </a:p>
          <a:p>
            <a:endParaRPr lang="en-GB" dirty="0"/>
          </a:p>
          <a:p>
            <a:r>
              <a:rPr lang="en-GB" dirty="0"/>
              <a:t>What data set used?</a:t>
            </a:r>
          </a:p>
          <a:p>
            <a:endParaRPr lang="en-GB" dirty="0"/>
          </a:p>
          <a:p>
            <a:r>
              <a:rPr lang="en-GB" dirty="0"/>
              <a:t>Explain the Methodology.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D85B31-D20D-71EE-37E1-D602B5FD4B08}"/>
              </a:ext>
            </a:extLst>
          </p:cNvPr>
          <p:cNvSpPr txBox="1"/>
          <p:nvPr/>
        </p:nvSpPr>
        <p:spPr>
          <a:xfrm>
            <a:off x="0" y="6524036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Times New Roman" panose="02020603050405020304" pitchFamily="18" charset="0"/>
              </a:rPr>
              <a:t>Copyright © Centre for Applied AI @MQ                                                                     						                            https://data-science-</a:t>
            </a:r>
            <a:r>
              <a:rPr lang="en-GB" sz="1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Times New Roman" panose="02020603050405020304" pitchFamily="18" charset="0"/>
              </a:rPr>
              <a:t>group.github.io</a:t>
            </a:r>
            <a:endParaRPr lang="en-AU" sz="1000" i="1" dirty="0">
              <a:solidFill>
                <a:schemeClr val="tx1">
                  <a:lumMod val="50000"/>
                  <a:lumOff val="50000"/>
                </a:schemeClr>
              </a:solidFill>
              <a:latin typeface="Roboto Light" panose="02000000000000000000" pitchFamily="2" charset="0"/>
              <a:ea typeface="Roboto Light" panose="02000000000000000000" pitchFamily="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84039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E0B83-3E83-CAA4-8D9B-C7EEA4114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Discussion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D73DC1-BCD1-A999-C113-3DA4FBFEA537}"/>
              </a:ext>
            </a:extLst>
          </p:cNvPr>
          <p:cNvSpPr txBox="1"/>
          <p:nvPr/>
        </p:nvSpPr>
        <p:spPr>
          <a:xfrm>
            <a:off x="844062" y="2132822"/>
            <a:ext cx="830345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Pros/Cons of the approach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Present your findings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How do you relate this work, to your research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Summarize the ideas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0F623D-79E4-A0A5-E4AE-CA684F0D7438}"/>
              </a:ext>
            </a:extLst>
          </p:cNvPr>
          <p:cNvSpPr txBox="1"/>
          <p:nvPr/>
        </p:nvSpPr>
        <p:spPr>
          <a:xfrm>
            <a:off x="0" y="6513305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Times New Roman" panose="02020603050405020304" pitchFamily="18" charset="0"/>
              </a:rPr>
              <a:t>Copyright © Centre for Applied AI @MQ                                                                     						                            https://data-science-</a:t>
            </a:r>
            <a:r>
              <a:rPr lang="en-GB" sz="1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Times New Roman" panose="02020603050405020304" pitchFamily="18" charset="0"/>
              </a:rPr>
              <a:t>group.github.io</a:t>
            </a:r>
            <a:endParaRPr lang="en-AU" sz="1000" i="1" dirty="0">
              <a:solidFill>
                <a:schemeClr val="tx1">
                  <a:lumMod val="50000"/>
                  <a:lumOff val="50000"/>
                </a:schemeClr>
              </a:solidFill>
              <a:latin typeface="Roboto Light" panose="02000000000000000000" pitchFamily="2" charset="0"/>
              <a:ea typeface="Roboto Light" panose="02000000000000000000" pitchFamily="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29711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F0221-4EC0-6A3A-C5B2-45C46B95C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Thank you!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8925DFF-B947-30E3-F66E-6AA0CBB91FEE}"/>
              </a:ext>
            </a:extLst>
          </p:cNvPr>
          <p:cNvSpPr txBox="1">
            <a:spLocks/>
          </p:cNvSpPr>
          <p:nvPr/>
        </p:nvSpPr>
        <p:spPr>
          <a:xfrm>
            <a:off x="685800" y="2082018"/>
            <a:ext cx="10820400" cy="4024125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914400" rtl="0" eaLnBrk="1" latinLnBrk="0" hangingPunct="1">
              <a:spcBef>
                <a:spcPct val="20000"/>
              </a:spcBef>
              <a:buFont typeface="Georgia" panose="02040502050405020303" pitchFamily="18" charset="0"/>
              <a:buChar char="―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0150" indent="-285750" algn="l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Georgia" panose="02040502050405020303" pitchFamily="18" charset="0"/>
              <a:buChar char="―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Encourage the Audience to ask questions.</a:t>
            </a:r>
          </a:p>
          <a:p>
            <a:endParaRPr lang="en-GB" dirty="0"/>
          </a:p>
          <a:p>
            <a:r>
              <a:rPr lang="en-AU" dirty="0"/>
              <a:t>Ask for feedback.</a:t>
            </a:r>
          </a:p>
          <a:p>
            <a:endParaRPr lang="en-AU" dirty="0"/>
          </a:p>
          <a:p>
            <a:r>
              <a:rPr lang="en-GB" dirty="0"/>
              <a:t>Reflect on the questions you didn’t expect.</a:t>
            </a:r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2CF4BF-05DA-CA09-2A07-721C4A0522D9}"/>
              </a:ext>
            </a:extLst>
          </p:cNvPr>
          <p:cNvSpPr txBox="1"/>
          <p:nvPr/>
        </p:nvSpPr>
        <p:spPr>
          <a:xfrm>
            <a:off x="0" y="6524036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Times New Roman" panose="02020603050405020304" pitchFamily="18" charset="0"/>
              </a:rPr>
              <a:t>Copyright © Centre for Applied AI @MQ                                                                     						                            https://data-science-</a:t>
            </a:r>
            <a:r>
              <a:rPr lang="en-GB" sz="1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Times New Roman" panose="02020603050405020304" pitchFamily="18" charset="0"/>
              </a:rPr>
              <a:t>group.github.io</a:t>
            </a:r>
            <a:endParaRPr lang="en-AU" sz="1000" i="1" dirty="0">
              <a:solidFill>
                <a:schemeClr val="tx1">
                  <a:lumMod val="50000"/>
                  <a:lumOff val="50000"/>
                </a:schemeClr>
              </a:solidFill>
              <a:latin typeface="Roboto Light" panose="02000000000000000000" pitchFamily="2" charset="0"/>
              <a:ea typeface="Roboto Light" panose="02000000000000000000" pitchFamily="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3654859"/>
      </p:ext>
    </p:extLst>
  </p:cSld>
  <p:clrMapOvr>
    <a:masterClrMapping/>
  </p:clrMapOvr>
</p:sld>
</file>

<file path=ppt/theme/theme1.xml><?xml version="1.0" encoding="utf-8"?>
<a:theme xmlns:a="http://schemas.openxmlformats.org/drawingml/2006/main" name="MAC UNI BASIC_Round 1 Draft for feedback">
  <a:themeElements>
    <a:clrScheme name="MQU Colours">
      <a:dk1>
        <a:sysClr val="windowText" lastClr="000000"/>
      </a:dk1>
      <a:lt1>
        <a:sysClr val="window" lastClr="FFFFFF"/>
      </a:lt1>
      <a:dk2>
        <a:srgbClr val="D6D2C4"/>
      </a:dk2>
      <a:lt2>
        <a:srgbClr val="E6E4DC"/>
      </a:lt2>
      <a:accent1>
        <a:srgbClr val="A6192E"/>
      </a:accent1>
      <a:accent2>
        <a:srgbClr val="76232F"/>
      </a:accent2>
      <a:accent3>
        <a:srgbClr val="D6001C"/>
      </a:accent3>
      <a:accent4>
        <a:srgbClr val="C6007E"/>
      </a:accent4>
      <a:accent5>
        <a:srgbClr val="80225F"/>
      </a:accent5>
      <a:accent6>
        <a:srgbClr val="373A36"/>
      </a:accent6>
      <a:hlink>
        <a:srgbClr val="A6192E"/>
      </a:hlink>
      <a:folHlink>
        <a:srgbClr val="954F72"/>
      </a:folHlink>
    </a:clrScheme>
    <a:fontScheme name="MQ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VCR17304_Macquarie University Applied AI Research Centre_PPT_16x9_FA" id="{5A9E95EA-DF99-EC45-93A1-899B44546F89}" vid="{958F6FE0-A063-A24A-B47C-DF32FAAA355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AD38F839DC9FA428D0EE5B9BBEE39D4" ma:contentTypeVersion="13" ma:contentTypeDescription="Create a new document." ma:contentTypeScope="" ma:versionID="6a17c7c3c1120d02ece66b557434e4f7">
  <xsd:schema xmlns:xsd="http://www.w3.org/2001/XMLSchema" xmlns:xs="http://www.w3.org/2001/XMLSchema" xmlns:p="http://schemas.microsoft.com/office/2006/metadata/properties" xmlns:ns2="bbbc3336-f6d2-4d93-a815-b175d43f81ae" xmlns:ns3="0728c94b-6f88-4f33-b091-b92307e79834" targetNamespace="http://schemas.microsoft.com/office/2006/metadata/properties" ma:root="true" ma:fieldsID="eaab7c043c15481ec3b12aa8396ef725" ns2:_="" ns3:_="">
    <xsd:import namespace="bbbc3336-f6d2-4d93-a815-b175d43f81ae"/>
    <xsd:import namespace="0728c94b-6f88-4f33-b091-b92307e79834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bc3336-f6d2-4d93-a815-b175d43f81ae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0f0fa888-949a-464e-a270-b091e030d5a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28c94b-6f88-4f33-b091-b92307e79834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530ff76a-1973-4c11-b401-52cbe6140bdf}" ma:internalName="TaxCatchAll" ma:showField="CatchAllData" ma:web="0728c94b-6f88-4f33-b091-b92307e7983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bbc3336-f6d2-4d93-a815-b175d43f81ae">
      <Terms xmlns="http://schemas.microsoft.com/office/infopath/2007/PartnerControls"/>
    </lcf76f155ced4ddcb4097134ff3c332f>
    <TaxCatchAll xmlns="0728c94b-6f88-4f33-b091-b92307e79834" xsi:nil="true"/>
  </documentManagement>
</p:properties>
</file>

<file path=customXml/itemProps1.xml><?xml version="1.0" encoding="utf-8"?>
<ds:datastoreItem xmlns:ds="http://schemas.openxmlformats.org/officeDocument/2006/customXml" ds:itemID="{89109804-AA6E-481D-83F5-0298765FDF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bbc3336-f6d2-4d93-a815-b175d43f81ae"/>
    <ds:schemaRef ds:uri="0728c94b-6f88-4f33-b091-b92307e7983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C4009E3-9326-445C-BB80-25C69D1A75E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C54BF49-D438-487D-89BC-B43BC2BBC4F7}">
  <ds:schemaRefs>
    <ds:schemaRef ds:uri="http://www.w3.org/XML/1998/namespace"/>
    <ds:schemaRef ds:uri="http://purl.org/dc/dcmitype/"/>
    <ds:schemaRef ds:uri="0728c94b-6f88-4f33-b091-b92307e79834"/>
    <ds:schemaRef ds:uri="http://purl.org/dc/terms/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bbbc3336-f6d2-4d93-a815-b175d43f81ae"/>
  </ds:schemaRefs>
</ds:datastoreItem>
</file>

<file path=docMetadata/LabelInfo.xml><?xml version="1.0" encoding="utf-8"?>
<clbl:labelList xmlns:clbl="http://schemas.microsoft.com/office/2020/mipLabelMetadata">
  <clbl:label id="{82c514c1-a717-4087-be06-d40d2070ad52}" enabled="0" method="" siteId="{82c514c1-a717-4087-be06-d40d2070ad5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MAC UNI BASIC_Round 1 Draft for feedback</Template>
  <TotalTime>65</TotalTime>
  <Words>412</Words>
  <Application>Microsoft Macintosh PowerPoint</Application>
  <PresentationFormat>Widescreen</PresentationFormat>
  <Paragraphs>58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Georgia</vt:lpstr>
      <vt:lpstr>Roboto Light</vt:lpstr>
      <vt:lpstr>Wingdings</vt:lpstr>
      <vt:lpstr>MAC UNI BASIC_Round 1 Draft for feedback</vt:lpstr>
      <vt:lpstr>PowerPoint Presentation</vt:lpstr>
      <vt:lpstr>Introduction</vt:lpstr>
      <vt:lpstr>Research Problem</vt:lpstr>
      <vt:lpstr>Literature Review</vt:lpstr>
      <vt:lpstr>Contributions</vt:lpstr>
      <vt:lpstr>Methodology</vt:lpstr>
      <vt:lpstr>Discussion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Marjan BaghGolshani</dc:creator>
  <cp:lastModifiedBy>Amin Beheshti</cp:lastModifiedBy>
  <cp:revision>3</cp:revision>
  <dcterms:created xsi:type="dcterms:W3CDTF">2026-06-25T01:07:42Z</dcterms:created>
  <dcterms:modified xsi:type="dcterms:W3CDTF">2026-06-25T04:38:14Z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0x0101000AD38F839DC9FA428D0EE5B9BBEE39D4</vt:lpwstr>
  </property>
</Properties>
</file>